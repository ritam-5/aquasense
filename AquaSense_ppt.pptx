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21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A7BE-DE49-F52D-22E8-CAD4FD88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E5E11-EEB4-BBF1-3711-95D45788B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B0987-ED89-D2D9-3EB3-3452F5578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44FBE-4454-FD10-6B0A-3F52638DB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4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github.com/ritam-5/AquaSense.git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AquaSense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Advisor for Smart Water Use on Campus &amp; at Home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5876" y="4556857"/>
            <a:ext cx="3898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 · Clean Water and Sanitation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16137"/>
            <a:ext cx="7315200" cy="66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Ritam Saha </a:t>
            </a:r>
            <a:br>
              <a:rPr lang="en-US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Name: Institute of Engineering &amp; Management</a:t>
            </a:r>
            <a:endParaRPr lang="en-US" dirty="0"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F115C642-C967-71C2-5BB0-C85857931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4651296"/>
            <a:ext cx="2286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SDG Alignment · Problem Statement · AI Solution Overview · Target Users · Responsible AI · Expected Impact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749040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14725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→ SDG ALIGNMENT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and Sanitation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availability and sustainable management of water through better everyday monitoring and awareness.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788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&amp; Production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61188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efficient, non-wasteful use of a shared natural resource.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155448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788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61188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efficiency reduces the energy used to pump, treat, and heat water.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→ PROBLEM STATEMENT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2377440"/>
          </a:xfrm>
          <a:prstGeom prst="roundRect">
            <a:avLst>
              <a:gd name="adj" fmla="val 461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280160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A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</a:t>
            </a: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people see and understand their water use in real time</a:t>
            </a:r>
            <a:r>
              <a:rPr lang="en-US" sz="2400" dirty="0">
                <a:solidFill>
                  <a:srgbClr val="EA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 that </a:t>
            </a: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campuses and households can cut waste early and build lasting conservation habits</a:t>
            </a:r>
            <a:r>
              <a:rPr lang="en-US" sz="2400" dirty="0">
                <a:solidFill>
                  <a:srgbClr val="EA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wardens &amp; facility teams, households in water-stressed towns, and (at scale) municipal water departments.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1605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cycles, no personalized feedback loop, and leaks or overuse that go unnoticed for weeks.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Data Involved?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1605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daily usage readings per activity, which is exactly the kind of data AI can track, baseline, and act 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→ AI SOLUTION 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AquaSense is a conversational advisor: log usage in plain language, and it detects anomalies, retrieves grounded tips, and forecasts your trend.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65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9659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daily readings against a rolling personal baseline to flag spikes that look like a running tap or a leak.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 (RAG)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most relevant tip from a knowledge base of verified water-conservation guidelines — not a generic script.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Access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8862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just type or speak their usage in plain language — no app training or technical skill required.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846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Forecasting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8463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next month's usage from recent trends, so people can act before the bill arrives, not after.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prompt engineering + a lightweight retrieval-augmented (RAG) knowledge base — no advanced coding or model training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→ TARGET USERS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 this project is designed around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6E9"/>
            </a:solidFill>
            <a:prstDash val="solid"/>
          </a:ln>
          <a:effectLst>
            <a:outerShdw blurRad="76200" dist="25400" dir="5400000" algn="bl" rotWithShape="0">
              <a:srgbClr val="9AA5A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Warden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water for 300+ students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3063240" cy="0"/>
          </a:xfrm>
          <a:prstGeom prst="line">
            <a:avLst/>
          </a:prstGeom>
          <a:noFill/>
          <a:ln w="12700">
            <a:solidFill>
              <a:srgbClr val="E0E6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which block or floor is overusing water until the bulk bill arrives.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8745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6E9"/>
            </a:solidFill>
            <a:prstDash val="solid"/>
          </a:ln>
          <a:effectLst>
            <a:outerShdw blurRad="76200" dist="25400" dir="5400000" algn="bl" rotWithShape="0">
              <a:srgbClr val="9AA5A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Resident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 monthly water bill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3063240" cy="0"/>
          </a:xfrm>
          <a:prstGeom prst="line">
            <a:avLst/>
          </a:prstGeom>
          <a:noFill/>
          <a:ln w="12700">
            <a:solidFill>
              <a:srgbClr val="E0E6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8862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cut usage but has no simple, daily way to track it or know where it's going.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18745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6E9"/>
            </a:solidFill>
            <a:prstDash val="solid"/>
          </a:ln>
          <a:effectLst>
            <a:outerShdw blurRad="76200" dist="25400" dir="5400000" algn="bl" rotWithShape="0">
              <a:srgbClr val="9AA5A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Officer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local water supply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0" y="3749040"/>
            <a:ext cx="3063240" cy="0"/>
          </a:xfrm>
          <a:prstGeom prst="line">
            <a:avLst/>
          </a:prstGeom>
          <a:noFill/>
          <a:ln w="12700">
            <a:solidFill>
              <a:srgbClr val="E0E6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38862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early signals of neighborhood-level overuse to plan supply and repairs.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→ RESPONSIBLE AI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calculated per household/hostel, not against a single national average — so smaller families or water-scarce regions aren't unfairly flagged.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317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tip cites the guideline it came from, and every alert explains the exact comparison (e.g. "40L vs. your 25L average") that triggered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17320" y="3931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26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stays supportive, never shaming — the goal is habit change, not penalty or surveillance of individual behavior.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703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3931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526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usage volumes and activity types are stored, in aggregate; no location tracking, no data sold or shared, and users can delete their history anytime.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→ EXPECTED IMPACT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deeper detail follows in the Impact Statement (Section 3)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31720"/>
            <a:ext cx="8229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Residents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visibility into their own water use, and specific, practical tips instead of generic posters.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331720"/>
            <a:ext cx="8229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&amp; Campus Teams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alerts on unusual usage let facilities staff catch leaks and overuse within days, not a full billing cycle.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331720"/>
            <a:ext cx="8229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Water Systems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anonymized trends can help municipal teams anticipate demand and plan maintenance.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/ Demo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Workflows · Screenshots &amp; Flow Diagram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DEMO 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90EE19D-72F8-41A6-A414-1C76B033C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386" y="137160"/>
            <a:ext cx="3437226" cy="65396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0933FD-C7D5-9F6D-5161-7543B412C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794" y="137160"/>
            <a:ext cx="3604525" cy="65396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39" y="320040"/>
            <a:ext cx="3519507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3912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DEMO → FLOW DIAGRAM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AI Workflow Diagram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EAF4F8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23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"Used 40L for laundry today" — typed or spoken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926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EAF4F8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423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Classify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8803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extracts activity, quantity, and date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926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EAF4F8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2423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Baseline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8803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the user's rolling average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2926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06640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EAF4F8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2423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8803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matching tip from the guideline knowledge base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491472" y="29260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92640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29800" y="2423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288036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tip + leak/overuse alert if needed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verified water-conservation guidelines, campus water policy, and municipal advisories.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Statement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If Implemented · Who Benefits and How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Solution Is Implemented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75234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587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 shifts from a once-a-month surprise to a daily, visible habit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2958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3649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and overuse are caught within days instead of a full billing cycle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0682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1422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advice becomes personal and specific, not a generic poster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08406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919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data starts accumulating — useful for future planning and audits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AF4F8"/>
          </a:solidFill>
          <a:ln w="12700">
            <a:solidFill>
              <a:srgbClr val="D6E7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&amp; HOW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Households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5420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water bills and a clear, judgment-free way to build better habits.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&amp; Campus Facilities Teams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5021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leak detection saves money and prevents larger repair costs.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Water Utilities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462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anonymized demand trends support better supply planning.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4223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waste supports SDG 6, 12, and 13 at a community scale.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21656-FEFE-BC75-8761-68090EDE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1AFCB4-2740-001D-E96E-0AECF57A162B}"/>
              </a:ext>
            </a:extLst>
          </p:cNvPr>
          <p:cNvSpPr/>
          <p:nvPr/>
        </p:nvSpPr>
        <p:spPr>
          <a:xfrm>
            <a:off x="548640" y="3200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6CF4DB-3DB0-BBDC-08B0-159D2092ACA8}"/>
              </a:ext>
            </a:extLst>
          </p:cNvPr>
          <p:cNvSpPr txBox="1"/>
          <p:nvPr/>
        </p:nvSpPr>
        <p:spPr>
          <a:xfrm>
            <a:off x="548640" y="320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33" name="Rounded Rectangle 1">
            <a:extLst>
              <a:ext uri="{FF2B5EF4-FFF2-40B4-BE49-F238E27FC236}">
                <a16:creationId xmlns:a16="http://schemas.microsoft.com/office/drawing/2014/main" id="{436C0C5E-EED1-F08B-F820-DFB427805047}"/>
              </a:ext>
            </a:extLst>
          </p:cNvPr>
          <p:cNvSpPr/>
          <p:nvPr/>
        </p:nvSpPr>
        <p:spPr>
          <a:xfrm>
            <a:off x="609600" y="2005012"/>
            <a:ext cx="10972800" cy="31432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DF93BB57-0C24-C59D-B659-8F4528E82531}"/>
              </a:ext>
            </a:extLst>
          </p:cNvPr>
          <p:cNvSpPr/>
          <p:nvPr/>
        </p:nvSpPr>
        <p:spPr>
          <a:xfrm>
            <a:off x="3143250" y="4167187"/>
            <a:ext cx="5905500" cy="504825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E5237052-2830-3288-33BC-38085BC2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481262"/>
            <a:ext cx="685800" cy="68580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507F94F7-906B-128A-B879-505C42A54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2" y="2652712"/>
            <a:ext cx="333375" cy="3429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966B3F5-24A9-E248-7F9D-3B5FC1B123E5}"/>
              </a:ext>
            </a:extLst>
          </p:cNvPr>
          <p:cNvSpPr txBox="1"/>
          <p:nvPr/>
        </p:nvSpPr>
        <p:spPr>
          <a:xfrm>
            <a:off x="4995862" y="3357562"/>
            <a:ext cx="22002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Plus Jakarta Sans"/>
              </a:rPr>
              <a:t>AquaSense 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E79B57-3892-0D75-5F73-C183AB957EC4}"/>
              </a:ext>
            </a:extLst>
          </p:cNvPr>
          <p:cNvSpPr txBox="1"/>
          <p:nvPr/>
        </p:nvSpPr>
        <p:spPr>
          <a:xfrm>
            <a:off x="2530078" y="3748087"/>
            <a:ext cx="7131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Complete prototype code, prompt workflows, and water benchmark guidelines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FE1E19-6206-3869-D42F-7899D60EE38B}"/>
              </a:ext>
            </a:extLst>
          </p:cNvPr>
          <p:cNvSpPr txBox="1"/>
          <p:nvPr/>
        </p:nvSpPr>
        <p:spPr>
          <a:xfrm>
            <a:off x="4727868" y="4327266"/>
            <a:ext cx="2736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369A1"/>
                </a:solidFill>
                <a:latin typeface="monospace"/>
                <a:hlinkClick r:id="rId5"/>
              </a:rPr>
              <a:t>https://github.com/ritam-5/AquaSense.git</a:t>
            </a:r>
            <a:endParaRPr sz="1200" b="1" i="0" u="none" dirty="0">
              <a:solidFill>
                <a:srgbClr val="0369A1"/>
              </a:solidFill>
              <a:latin typeface="monospace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F60B13-CBD8-E415-7ECE-A3772A13EC19}"/>
              </a:ext>
            </a:extLst>
          </p:cNvPr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Project Source Code &amp; Resources</a:t>
            </a:r>
          </a:p>
        </p:txBody>
      </p:sp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FC41631D-51F9-F80D-D803-03D66E63B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475" y="4343400"/>
            <a:ext cx="1905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9601200" cy="49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75"/>
              </a:lnSpc>
            </a:pPr>
            <a:r>
              <a:rPr lang="en-US" sz="1600" dirty="0">
                <a:solidFill>
                  <a:srgbClr val="BAE6F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Making everyday water conservation simple, explainable, and accessible for everyone.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88EB9B0A-194E-5660-A857-36722D488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9598"/>
            <a:ext cx="762000" cy="7620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E270833-9875-CEBB-71C8-BD7AA8B7B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45" y="1950098"/>
            <a:ext cx="28575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981</Words>
  <Application>Microsoft Office PowerPoint</Application>
  <PresentationFormat>Widescreen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Inter</vt:lpstr>
      <vt:lpstr>monospace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Ritam Saha</cp:lastModifiedBy>
  <cp:revision>3</cp:revision>
  <dcterms:created xsi:type="dcterms:W3CDTF">2026-09-19T10:03:23Z</dcterms:created>
  <dcterms:modified xsi:type="dcterms:W3CDTF">2026-09-20T19:37:51Z</dcterms:modified>
</cp:coreProperties>
</file>